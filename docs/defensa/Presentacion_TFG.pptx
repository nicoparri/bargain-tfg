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3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058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5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00" y="1905000"/>
            <a:ext cx="6477000" cy="647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604138"/>
            <a:ext cx="2908788" cy="192082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3950" y="2963108"/>
            <a:ext cx="11576685" cy="179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050" b="1" kern="0" spc="-225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inteligente de la cesta de la compra</a:t>
            </a:r>
            <a:endParaRPr lang="en-US" sz="7050" dirty="0"/>
          </a:p>
        </p:txBody>
      </p:sp>
      <p:sp>
        <p:nvSpPr>
          <p:cNvPr id="5" name="Text 1"/>
          <p:cNvSpPr/>
          <p:nvPr/>
        </p:nvSpPr>
        <p:spPr>
          <a:xfrm>
            <a:off x="1123950" y="5041702"/>
            <a:ext cx="10595610" cy="1045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15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mejor equilibrio entre </a:t>
            </a:r>
            <a:r>
              <a:rPr lang="en-US" sz="3150" b="1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</a:t>
            </a:r>
            <a:r>
              <a:rPr lang="en-US" sz="315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3150" b="1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distancia </a:t>
            </a:r>
            <a:r>
              <a:rPr lang="en-US" sz="315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3150" b="1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</a:t>
            </a:r>
            <a:r>
              <a:rPr lang="en-US" sz="315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en una sola decisión.</a:t>
            </a:r>
            <a:endParaRPr lang="en-US" sz="3150" dirty="0"/>
          </a:p>
        </p:txBody>
      </p:sp>
      <p:sp>
        <p:nvSpPr>
          <p:cNvPr id="6" name="Shape 2"/>
          <p:cNvSpPr/>
          <p:nvPr/>
        </p:nvSpPr>
        <p:spPr>
          <a:xfrm>
            <a:off x="1123950" y="6601896"/>
            <a:ext cx="104775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3"/>
          <p:cNvSpPr/>
          <p:nvPr/>
        </p:nvSpPr>
        <p:spPr>
          <a:xfrm>
            <a:off x="1123950" y="6973371"/>
            <a:ext cx="429014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TRABAJO FIN DE GRADO</a:t>
            </a:r>
            <a:endParaRPr lang="en-US" sz="1875" dirty="0"/>
          </a:p>
        </p:txBody>
      </p:sp>
      <p:sp>
        <p:nvSpPr>
          <p:cNvPr id="8" name="Text 4"/>
          <p:cNvSpPr/>
          <p:nvPr/>
        </p:nvSpPr>
        <p:spPr>
          <a:xfrm>
            <a:off x="1123950" y="7438192"/>
            <a:ext cx="4017134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Grado en Ingeniería Informática Ingeniería del Software</a:t>
            </a:r>
            <a:endParaRPr lang="en-US" sz="2175" dirty="0"/>
          </a:p>
        </p:txBody>
      </p:sp>
      <p:sp>
        <p:nvSpPr>
          <p:cNvPr id="9" name="Text 5"/>
          <p:cNvSpPr/>
          <p:nvPr/>
        </p:nvSpPr>
        <p:spPr>
          <a:xfrm>
            <a:off x="1123950" y="8287821"/>
            <a:ext cx="429014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ETSII · Universidad de Sevilla · 2026</a:t>
            </a:r>
            <a:endParaRPr lang="en-US" sz="1875" dirty="0"/>
          </a:p>
        </p:txBody>
      </p:sp>
      <p:sp>
        <p:nvSpPr>
          <p:cNvPr id="10" name="Text 6"/>
          <p:cNvSpPr/>
          <p:nvPr/>
        </p:nvSpPr>
        <p:spPr>
          <a:xfrm>
            <a:off x="6071831" y="6973371"/>
            <a:ext cx="483143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 · TUTOR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6071831" y="7438192"/>
            <a:ext cx="4831437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Parrilla Geniz</a:t>
            </a:r>
            <a:endParaRPr lang="en-US" sz="2175" dirty="0"/>
          </a:p>
        </p:txBody>
      </p:sp>
      <p:sp>
        <p:nvSpPr>
          <p:cNvPr id="12" name="Text 8"/>
          <p:cNvSpPr/>
          <p:nvPr/>
        </p:nvSpPr>
        <p:spPr>
          <a:xfrm>
            <a:off x="6071831" y="7901107"/>
            <a:ext cx="483143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Tutor: Juan Vicente Gutiérrez Santacreu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81125" y="800100"/>
            <a:ext cx="2038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PROBLEMA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51292" y="800100"/>
            <a:ext cx="11889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23950" y="1390650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23950" y="1781175"/>
            <a:ext cx="176441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12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 bien cuesta tiempo y dinero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23950" y="3935730"/>
            <a:ext cx="5143500" cy="4276725"/>
          </a:xfrm>
          <a:prstGeom prst="roundRect">
            <a:avLst>
              <a:gd name="adj" fmla="val 4454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626870" y="4476750"/>
            <a:ext cx="4551426" cy="1306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100" b="1" kern="0" spc="-375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1100" dirty="0"/>
          </a:p>
        </p:txBody>
      </p:sp>
      <p:sp>
        <p:nvSpPr>
          <p:cNvPr id="9" name="Text 7"/>
          <p:cNvSpPr/>
          <p:nvPr/>
        </p:nvSpPr>
        <p:spPr>
          <a:xfrm>
            <a:off x="1626870" y="5974080"/>
            <a:ext cx="4261790" cy="1735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diferencia de precio en la </a:t>
            </a: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 cesta </a:t>
            </a:r>
            <a:r>
              <a:rPr lang="en-US" sz="24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el súper más caro y el más barato.</a:t>
            </a:r>
            <a:endParaRPr lang="en-US" sz="2475" dirty="0"/>
          </a:p>
        </p:txBody>
      </p:sp>
      <p:sp>
        <p:nvSpPr>
          <p:cNvPr id="10" name="Text 8"/>
          <p:cNvSpPr/>
          <p:nvPr/>
        </p:nvSpPr>
        <p:spPr>
          <a:xfrm>
            <a:off x="7029450" y="4096703"/>
            <a:ext cx="46493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684889" y="4096703"/>
            <a:ext cx="976332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Asimetría de información</a:t>
            </a: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7684889" y="4511993"/>
            <a:ext cx="9763328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precios cambian a diario y no hay una fuente única que los reúna.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7029450" y="5184457"/>
            <a:ext cx="101346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029450" y="5479732"/>
            <a:ext cx="46493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7684889" y="5479732"/>
            <a:ext cx="994956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de tiempo</a:t>
            </a:r>
            <a:endParaRPr lang="en-US" sz="2475" dirty="0"/>
          </a:p>
        </p:txBody>
      </p:sp>
      <p:sp>
        <p:nvSpPr>
          <p:cNvPr id="16" name="Text 14"/>
          <p:cNvSpPr/>
          <p:nvPr/>
        </p:nvSpPr>
        <p:spPr>
          <a:xfrm>
            <a:off x="7684889" y="5895023"/>
            <a:ext cx="9949565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folletos y apps consume unos 47 min a la semana por hogar.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7029450" y="6567488"/>
            <a:ext cx="101346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029450" y="6862763"/>
            <a:ext cx="46493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7684889" y="6862763"/>
            <a:ext cx="1042707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Ineficiencia logística</a:t>
            </a:r>
            <a:endParaRPr lang="en-US" sz="2475" dirty="0"/>
          </a:p>
        </p:txBody>
      </p:sp>
      <p:sp>
        <p:nvSpPr>
          <p:cNvPr id="20" name="Text 18"/>
          <p:cNvSpPr/>
          <p:nvPr/>
        </p:nvSpPr>
        <p:spPr>
          <a:xfrm>
            <a:off x="7684889" y="7278053"/>
            <a:ext cx="9763536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a varias tiendas puede costar más en tiempo y combustible de lo que ahorras.</a:t>
            </a:r>
            <a:endParaRPr lang="en-US" sz="21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81125" y="800100"/>
            <a:ext cx="31505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MERCADO ACTUAL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51292" y="800100"/>
            <a:ext cx="11889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23950" y="1390650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23950" y="1781175"/>
            <a:ext cx="176441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12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apps actuales solo comparan precios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123950" y="2585085"/>
            <a:ext cx="11772900" cy="886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Soysuper, OCU Market, RadarPrice o PreciRadar comparan bien — pero ninguna cierra el círculo de la compra.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1123950" y="4964906"/>
            <a:ext cx="1764411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BF5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NADIE HACE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123950" y="5563076"/>
            <a:ext cx="5156121" cy="202311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493520" y="5970747"/>
            <a:ext cx="485867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493520" y="6462236"/>
            <a:ext cx="485867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Optimizar rutas multiparada</a:t>
            </a:r>
            <a:endParaRPr lang="en-US" sz="2475" dirty="0"/>
          </a:p>
        </p:txBody>
      </p:sp>
      <p:sp>
        <p:nvSpPr>
          <p:cNvPr id="12" name="Shape 10"/>
          <p:cNvSpPr/>
          <p:nvPr/>
        </p:nvSpPr>
        <p:spPr>
          <a:xfrm>
            <a:off x="6565821" y="5563076"/>
            <a:ext cx="5156240" cy="202311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935391" y="5970747"/>
            <a:ext cx="485881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935391" y="6462236"/>
            <a:ext cx="4549613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Cruzar precio, distancia y tiempo</a:t>
            </a:r>
            <a:endParaRPr lang="en-US" sz="2475" dirty="0"/>
          </a:p>
        </p:txBody>
      </p:sp>
      <p:sp>
        <p:nvSpPr>
          <p:cNvPr id="15" name="Shape 13"/>
          <p:cNvSpPr/>
          <p:nvPr/>
        </p:nvSpPr>
        <p:spPr>
          <a:xfrm>
            <a:off x="12007810" y="5563076"/>
            <a:ext cx="5156240" cy="202311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2377381" y="5970747"/>
            <a:ext cx="485881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377381" y="6462236"/>
            <a:ext cx="485881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 al comercio local</a:t>
            </a:r>
            <a:endParaRPr lang="en-US" sz="2475" dirty="0"/>
          </a:p>
        </p:txBody>
      </p:sp>
      <p:sp>
        <p:nvSpPr>
          <p:cNvPr id="18" name="Text 16"/>
          <p:cNvSpPr/>
          <p:nvPr/>
        </p:nvSpPr>
        <p:spPr>
          <a:xfrm>
            <a:off x="1123950" y="9022080"/>
            <a:ext cx="1764411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37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hueco es </a:t>
            </a:r>
            <a:r>
              <a:rPr lang="en-US" sz="3150" b="1" kern="0" spc="-37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BarGAIN</a:t>
            </a:r>
            <a:r>
              <a:rPr lang="en-US" sz="3150" b="1" kern="0" spc="-37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81125" y="800100"/>
            <a:ext cx="2038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SOLUCIÓN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51292" y="800100"/>
            <a:ext cx="11889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23950" y="1390650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23950" y="1781175"/>
            <a:ext cx="1362075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12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dónde es más barato: </a:t>
            </a:r>
            <a:r>
              <a:rPr lang="en-US" sz="4500" b="1" kern="0" spc="-112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tiendas visitar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123950" y="2585085"/>
            <a:ext cx="11576685" cy="886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BarGAIN calcula la </a:t>
            </a: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combinación óptima </a:t>
            </a:r>
            <a:r>
              <a:rPr lang="en-US" sz="24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supermercados y comercios locales que maximiza tu ahorro real.</a:t>
            </a:r>
            <a:endParaRPr lang="en-US" sz="2475" dirty="0"/>
          </a:p>
        </p:txBody>
      </p:sp>
      <p:sp>
        <p:nvSpPr>
          <p:cNvPr id="8" name="Shape 6"/>
          <p:cNvSpPr/>
          <p:nvPr/>
        </p:nvSpPr>
        <p:spPr>
          <a:xfrm>
            <a:off x="5085874" y="4877276"/>
            <a:ext cx="2857500" cy="830580"/>
          </a:xfrm>
          <a:prstGeom prst="roundRect">
            <a:avLst>
              <a:gd name="adj" fmla="val 16055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431631" y="5113496"/>
            <a:ext cx="216598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</a:t>
            </a:r>
            <a:endParaRPr lang="en-US" sz="2475" dirty="0"/>
          </a:p>
        </p:txBody>
      </p:sp>
      <p:sp>
        <p:nvSpPr>
          <p:cNvPr id="10" name="Shape 8"/>
          <p:cNvSpPr/>
          <p:nvPr/>
        </p:nvSpPr>
        <p:spPr>
          <a:xfrm>
            <a:off x="5085874" y="5917406"/>
            <a:ext cx="2857500" cy="830580"/>
          </a:xfrm>
          <a:prstGeom prst="roundRect">
            <a:avLst>
              <a:gd name="adj" fmla="val 16055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31631" y="6153626"/>
            <a:ext cx="216598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Distancia</a:t>
            </a:r>
            <a:endParaRPr lang="en-US" sz="2475" dirty="0"/>
          </a:p>
        </p:txBody>
      </p:sp>
      <p:sp>
        <p:nvSpPr>
          <p:cNvPr id="12" name="Shape 10"/>
          <p:cNvSpPr/>
          <p:nvPr/>
        </p:nvSpPr>
        <p:spPr>
          <a:xfrm>
            <a:off x="5085874" y="6957536"/>
            <a:ext cx="2857500" cy="830580"/>
          </a:xfrm>
          <a:prstGeom prst="roundRect">
            <a:avLst>
              <a:gd name="adj" fmla="val 16055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431631" y="7193756"/>
            <a:ext cx="216598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endParaRPr lang="en-US" sz="2475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7724" y="5380197"/>
            <a:ext cx="1619250" cy="1905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0591324" y="5036344"/>
            <a:ext cx="2610683" cy="2592705"/>
          </a:xfrm>
          <a:prstGeom prst="roundRect">
            <a:avLst>
              <a:gd name="adj" fmla="val 7348"/>
            </a:avLst>
          </a:prstGeom>
          <a:solidFill>
            <a:srgbClr val="15994A"/>
          </a:solidFill>
          <a:ln/>
          <a:effectLst>
            <a:outerShdw blurRad="381000" dist="171450" dir="5400000" algn="bl" rotWithShape="0">
              <a:srgbClr val="15994A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11047530" y="5550694"/>
            <a:ext cx="169827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kern="0" spc="15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11086624" y="6034564"/>
            <a:ext cx="1620084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óptima</a:t>
            </a:r>
            <a:endParaRPr lang="en-US" sz="4050" dirty="0"/>
          </a:p>
        </p:txBody>
      </p:sp>
      <p:sp>
        <p:nvSpPr>
          <p:cNvPr id="18" name="Text 15"/>
          <p:cNvSpPr/>
          <p:nvPr/>
        </p:nvSpPr>
        <p:spPr>
          <a:xfrm>
            <a:off x="4153376" y="9136380"/>
            <a:ext cx="288550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Ingesta de precios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6909911" y="9136380"/>
            <a:ext cx="22193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7188994" y="9136380"/>
            <a:ext cx="41679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Optimización multicriterio</a:t>
            </a:r>
            <a:endParaRPr lang="en-US" sz="1875" dirty="0"/>
          </a:p>
        </p:txBody>
      </p:sp>
      <p:sp>
        <p:nvSpPr>
          <p:cNvPr id="21" name="Text 18"/>
          <p:cNvSpPr/>
          <p:nvPr/>
        </p:nvSpPr>
        <p:spPr>
          <a:xfrm>
            <a:off x="11111389" y="9136380"/>
            <a:ext cx="22193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11390471" y="9136380"/>
            <a:ext cx="51339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OCR</a:t>
            </a:r>
            <a:endParaRPr lang="en-US" sz="1875" dirty="0"/>
          </a:p>
        </p:txBody>
      </p:sp>
      <p:sp>
        <p:nvSpPr>
          <p:cNvPr id="23" name="Text 20"/>
          <p:cNvSpPr/>
          <p:nvPr/>
        </p:nvSpPr>
        <p:spPr>
          <a:xfrm>
            <a:off x="11961019" y="9136380"/>
            <a:ext cx="22193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75" dirty="0"/>
          </a:p>
        </p:txBody>
      </p:sp>
      <p:sp>
        <p:nvSpPr>
          <p:cNvPr id="24" name="Text 21"/>
          <p:cNvSpPr/>
          <p:nvPr/>
        </p:nvSpPr>
        <p:spPr>
          <a:xfrm>
            <a:off x="12240102" y="9136380"/>
            <a:ext cx="208397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Asistente LLM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81125" y="800100"/>
            <a:ext cx="166801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51292" y="800100"/>
            <a:ext cx="11889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23950" y="1390650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23950" y="1781175"/>
            <a:ext cx="176441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12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objetivo principal, cuatro frentes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23950" y="2623185"/>
            <a:ext cx="16040100" cy="1387792"/>
          </a:xfrm>
          <a:prstGeom prst="rect">
            <a:avLst/>
          </a:prstGeom>
          <a:solidFill>
            <a:srgbClr val="E8F2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123950" y="2623185"/>
            <a:ext cx="45720" cy="1387792"/>
          </a:xfrm>
          <a:prstGeom prst="rect">
            <a:avLst/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531620" y="2889885"/>
            <a:ext cx="326269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 PRINCIPAL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531620" y="3335655"/>
            <a:ext cx="16797529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la combinación óptima de tiendas con la mejor relación precio–distancia–tiempo.</a:t>
            </a:r>
            <a:endParaRPr lang="en-US" sz="2475" dirty="0"/>
          </a:p>
        </p:txBody>
      </p:sp>
      <p:sp>
        <p:nvSpPr>
          <p:cNvPr id="11" name="Shape 9"/>
          <p:cNvSpPr/>
          <p:nvPr/>
        </p:nvSpPr>
        <p:spPr>
          <a:xfrm>
            <a:off x="1123950" y="4277678"/>
            <a:ext cx="7896225" cy="2480786"/>
          </a:xfrm>
          <a:prstGeom prst="roundRect">
            <a:avLst>
              <a:gd name="adj" fmla="val 6911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512570" y="4927521"/>
            <a:ext cx="783088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DATOS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512570" y="5392341"/>
            <a:ext cx="7332555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Ingesta automatizada de precios + OCR de listas y tickets</a:t>
            </a:r>
            <a:endParaRPr lang="en-US" sz="2475" dirty="0"/>
          </a:p>
        </p:txBody>
      </p:sp>
      <p:sp>
        <p:nvSpPr>
          <p:cNvPr id="14" name="Shape 12"/>
          <p:cNvSpPr/>
          <p:nvPr/>
        </p:nvSpPr>
        <p:spPr>
          <a:xfrm>
            <a:off x="9267825" y="4277678"/>
            <a:ext cx="7896225" cy="2480786"/>
          </a:xfrm>
          <a:prstGeom prst="roundRect">
            <a:avLst>
              <a:gd name="adj" fmla="val 6911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656445" y="4927521"/>
            <a:ext cx="783088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INTELIGENCIA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656445" y="5392341"/>
            <a:ext cx="7332555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multicriterio + asistente LLM de compra</a:t>
            </a:r>
            <a:endParaRPr lang="en-US" sz="2475" dirty="0"/>
          </a:p>
        </p:txBody>
      </p:sp>
      <p:sp>
        <p:nvSpPr>
          <p:cNvPr id="17" name="Shape 15"/>
          <p:cNvSpPr/>
          <p:nvPr/>
        </p:nvSpPr>
        <p:spPr>
          <a:xfrm>
            <a:off x="1123950" y="7006114"/>
            <a:ext cx="7896225" cy="2480786"/>
          </a:xfrm>
          <a:prstGeom prst="roundRect">
            <a:avLst>
              <a:gd name="adj" fmla="val 6911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512570" y="7835027"/>
            <a:ext cx="783088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INCLUSIÓN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512570" y="8299847"/>
            <a:ext cx="783088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para PYMEs y comercio local de proximidad</a:t>
            </a:r>
            <a:endParaRPr lang="en-US" sz="2475" dirty="0"/>
          </a:p>
        </p:txBody>
      </p:sp>
      <p:sp>
        <p:nvSpPr>
          <p:cNvPr id="20" name="Shape 18"/>
          <p:cNvSpPr/>
          <p:nvPr/>
        </p:nvSpPr>
        <p:spPr>
          <a:xfrm>
            <a:off x="9267825" y="7006114"/>
            <a:ext cx="7896225" cy="2480786"/>
          </a:xfrm>
          <a:prstGeom prst="roundRect">
            <a:avLst>
              <a:gd name="adj" fmla="val 6911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9656445" y="7655957"/>
            <a:ext cx="783088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CALIDAD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9656445" y="8120777"/>
            <a:ext cx="7332555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documentada, cobertura ≥80%, CI/CD y validación con usuarios</a:t>
            </a:r>
            <a:endParaRPr lang="en-US" sz="24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81125" y="800100"/>
            <a:ext cx="4447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 DEL SISTEMA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51292" y="800100"/>
            <a:ext cx="11889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23950" y="1771650"/>
            <a:ext cx="176441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12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capas, contenedores y servicios gestionados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123950" y="2689860"/>
            <a:ext cx="11372850" cy="1772603"/>
          </a:xfrm>
          <a:prstGeom prst="roundRect">
            <a:avLst>
              <a:gd name="adj" fmla="val 8598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455420" y="2964180"/>
            <a:ext cx="1178090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PRESENTACIÓN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455420" y="3409950"/>
            <a:ext cx="11780901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+ Expo · React Web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1455420" y="3875722"/>
            <a:ext cx="1178090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iOS/Android y portal business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555308" y="4672013"/>
            <a:ext cx="1251013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HTTPS · JWT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23950" y="5201603"/>
            <a:ext cx="11372850" cy="1772603"/>
          </a:xfrm>
          <a:prstGeom prst="roundRect">
            <a:avLst>
              <a:gd name="adj" fmla="val 8598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455420" y="5475923"/>
            <a:ext cx="1178090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+ LÓGICA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455420" y="5921693"/>
            <a:ext cx="11780901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5 · REST Framework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1455420" y="6387465"/>
            <a:ext cx="1178090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apps de dominio · capa de servicios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555308" y="7183755"/>
            <a:ext cx="1251013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23950" y="7713345"/>
            <a:ext cx="11372850" cy="1757363"/>
          </a:xfrm>
          <a:prstGeom prst="roundRect">
            <a:avLst>
              <a:gd name="adj" fmla="val 8672"/>
            </a:avLst>
          </a:prstGeom>
          <a:solidFill>
            <a:srgbClr val="161F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447800" y="7980045"/>
            <a:ext cx="1179766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27B2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447800" y="8425815"/>
            <a:ext cx="11797665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75" b="1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+ PostGIS 3.4</a:t>
            </a:r>
            <a:endParaRPr lang="en-US" sz="2475" dirty="0"/>
          </a:p>
        </p:txBody>
      </p:sp>
      <p:sp>
        <p:nvSpPr>
          <p:cNvPr id="19" name="Text 17"/>
          <p:cNvSpPr/>
          <p:nvPr/>
        </p:nvSpPr>
        <p:spPr>
          <a:xfrm>
            <a:off x="1447800" y="8891588"/>
            <a:ext cx="1179766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A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geoespaciales · índices GiST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2782550" y="2689860"/>
            <a:ext cx="4381500" cy="2403158"/>
          </a:xfrm>
          <a:prstGeom prst="roundRect">
            <a:avLst>
              <a:gd name="adj" fmla="val 6342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3114020" y="2964180"/>
            <a:ext cx="3830117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BF5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PROCESAMIENTO ASÍNCRONO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3114020" y="3760470"/>
            <a:ext cx="409041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 + Redis</a:t>
            </a:r>
            <a:endParaRPr lang="en-US" sz="2475" dirty="0"/>
          </a:p>
        </p:txBody>
      </p:sp>
      <p:sp>
        <p:nvSpPr>
          <p:cNvPr id="23" name="Text 21"/>
          <p:cNvSpPr/>
          <p:nvPr/>
        </p:nvSpPr>
        <p:spPr>
          <a:xfrm>
            <a:off x="13114020" y="4175760"/>
            <a:ext cx="3830117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Scraping, OCR, rutas y notificaciones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2782550" y="5302568"/>
            <a:ext cx="4381500" cy="2181225"/>
          </a:xfrm>
          <a:prstGeom prst="roundRect">
            <a:avLst>
              <a:gd name="adj" fmla="val 6987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13114020" y="5576888"/>
            <a:ext cx="409041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BF5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SERVICIOS EXTERNOS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3114020" y="6022657"/>
            <a:ext cx="3830117" cy="855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ORS · Google Vision · Gemini</a:t>
            </a:r>
            <a:endParaRPr lang="en-US" sz="2475" dirty="0"/>
          </a:p>
        </p:txBody>
      </p:sp>
      <p:sp>
        <p:nvSpPr>
          <p:cNvPr id="27" name="Text 25"/>
          <p:cNvSpPr/>
          <p:nvPr/>
        </p:nvSpPr>
        <p:spPr>
          <a:xfrm>
            <a:off x="13114020" y="6897053"/>
            <a:ext cx="409041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Rutas, OCR y asistente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2782550" y="7693343"/>
            <a:ext cx="4381500" cy="2091690"/>
          </a:xfrm>
          <a:prstGeom prst="roundRect">
            <a:avLst>
              <a:gd name="adj" fmla="val 7286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13114020" y="7929563"/>
            <a:ext cx="3830117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75" kern="0" spc="113" dirty="0">
                <a:solidFill>
                  <a:srgbClr val="5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containerizado con Docker · CI/CD en GitHub Actions · staging en Render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81125" y="800100"/>
            <a:ext cx="51892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ALGORITMO DE OPTIMIZACIÓN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51292" y="800100"/>
            <a:ext cx="11889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23950" y="1390650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23950" y="1743075"/>
            <a:ext cx="176441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12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corazón: optimización multicriterio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23950" y="2566035"/>
            <a:ext cx="16040100" cy="2072640"/>
          </a:xfrm>
          <a:prstGeom prst="roundRect">
            <a:avLst>
              <a:gd name="adj" fmla="val 8272"/>
            </a:avLst>
          </a:prstGeom>
          <a:solidFill>
            <a:srgbClr val="161F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600200" y="2889885"/>
            <a:ext cx="1659636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27B2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FUNCIÓN DE SCORING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600200" y="3354705"/>
            <a:ext cx="16596360" cy="514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75" dirty="0">
                <a:solidFill>
                  <a:srgbClr val="EA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w</a:t>
            </a:r>
            <a:r>
              <a:rPr lang="en-US" sz="2375" b="1" kern="0" spc="-75" baseline="-40000" dirty="0">
                <a:solidFill>
                  <a:srgbClr val="EA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2850" b="1" kern="0" spc="-75" dirty="0">
                <a:solidFill>
                  <a:srgbClr val="EA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·ahorro − w</a:t>
            </a:r>
            <a:r>
              <a:rPr lang="en-US" sz="2375" b="1" kern="0" spc="-75" baseline="-40000" dirty="0">
                <a:solidFill>
                  <a:srgbClr val="EA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2850" b="1" kern="0" spc="-75" dirty="0">
                <a:solidFill>
                  <a:srgbClr val="EA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·distancia − w</a:t>
            </a:r>
            <a:r>
              <a:rPr lang="en-US" sz="2375" b="1" kern="0" spc="-75" baseline="-40000" dirty="0">
                <a:solidFill>
                  <a:srgbClr val="EA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2850" b="1" kern="0" spc="-75" dirty="0">
                <a:solidFill>
                  <a:srgbClr val="EA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·tiempo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600200" y="3964305"/>
            <a:ext cx="1659636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A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pesos </a:t>
            </a:r>
            <a:r>
              <a:rPr lang="en-US" sz="1875" dirty="0">
                <a:solidFill>
                  <a:srgbClr val="27B2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</a:t>
            </a:r>
            <a:r>
              <a:rPr lang="en-US" sz="1875" dirty="0">
                <a:solidFill>
                  <a:srgbClr val="A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configura el usuario según sus prioridades.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123950" y="6141720"/>
            <a:ext cx="2799517" cy="1918335"/>
          </a:xfrm>
          <a:prstGeom prst="roundRect">
            <a:avLst>
              <a:gd name="adj" fmla="val 6951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341120" y="6396990"/>
            <a:ext cx="260169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41120" y="6831330"/>
            <a:ext cx="244137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 geoespaciales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341120" y="7507605"/>
            <a:ext cx="260169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radio con PostGIS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56817" y="6940868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4437817" y="6296501"/>
            <a:ext cx="2799636" cy="1608773"/>
          </a:xfrm>
          <a:prstGeom prst="roundRect">
            <a:avLst>
              <a:gd name="adj" fmla="val 8289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654987" y="6551772"/>
            <a:ext cx="26018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4654987" y="6986111"/>
            <a:ext cx="26018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Combinaciones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4654987" y="7352824"/>
            <a:ext cx="260182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máx. 3–4 paradas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70802" y="6940868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7751802" y="6296501"/>
            <a:ext cx="2799517" cy="1608773"/>
          </a:xfrm>
          <a:prstGeom prst="roundRect">
            <a:avLst>
              <a:gd name="adj" fmla="val 8289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968972" y="6551772"/>
            <a:ext cx="260169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7968972" y="6986111"/>
            <a:ext cx="260169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reales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7968972" y="7352824"/>
            <a:ext cx="260169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OR-Tools VRP + ORS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684669" y="6940868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065669" y="6296501"/>
            <a:ext cx="2799636" cy="1608773"/>
          </a:xfrm>
          <a:prstGeom prst="roundRect">
            <a:avLst>
              <a:gd name="adj" fmla="val 8289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11282839" y="6551772"/>
            <a:ext cx="26018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1282839" y="6986111"/>
            <a:ext cx="26018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1282839" y="7352824"/>
            <a:ext cx="260182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multicriterio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998655" y="6940868"/>
            <a:ext cx="323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4379655" y="6304122"/>
            <a:ext cx="2784396" cy="1593533"/>
          </a:xfrm>
          <a:prstGeom prst="roundRect">
            <a:avLst>
              <a:gd name="adj" fmla="val 8368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14589205" y="6551772"/>
            <a:ext cx="26018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4589205" y="6986111"/>
            <a:ext cx="26018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Top-3 rutas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4589205" y="7352824"/>
            <a:ext cx="260182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recálculo &lt; 5 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81125" y="800100"/>
            <a:ext cx="33359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INGESTA DE PRECIOS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51292" y="800100"/>
            <a:ext cx="11889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23950" y="1390650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23950" y="1781175"/>
            <a:ext cx="176441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12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 frescos, de forma automática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23950" y="4725591"/>
            <a:ext cx="3421380" cy="1043940"/>
          </a:xfrm>
          <a:prstGeom prst="roundRect">
            <a:avLst>
              <a:gd name="adj" fmla="val 12774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275588" y="4942761"/>
            <a:ext cx="311810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Scrapy + Playwright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275588" y="5255181"/>
            <a:ext cx="311810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cadenas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16780" y="5072301"/>
            <a:ext cx="3429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54930" y="4725591"/>
            <a:ext cx="3421380" cy="1043940"/>
          </a:xfrm>
          <a:prstGeom prst="roundRect">
            <a:avLst>
              <a:gd name="adj" fmla="val 12774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306568" y="4942761"/>
            <a:ext cx="311810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5306568" y="5255181"/>
            <a:ext cx="311810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trigram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47760" y="5072301"/>
            <a:ext cx="3429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85910" y="4733211"/>
            <a:ext cx="3406140" cy="1028700"/>
          </a:xfrm>
          <a:prstGeom prst="roundRect">
            <a:avLst>
              <a:gd name="adj" fmla="val 12963"/>
            </a:avLst>
          </a:prstGeom>
          <a:solidFill>
            <a:srgbClr val="161F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9329928" y="4942761"/>
            <a:ext cx="311810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329928" y="5255181"/>
            <a:ext cx="311810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A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origen + TTL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23950" y="6055281"/>
            <a:ext cx="5619750" cy="1310164"/>
          </a:xfrm>
          <a:prstGeom prst="roundRect">
            <a:avLst>
              <a:gd name="adj" fmla="val 10178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1417320" y="6310551"/>
            <a:ext cx="553631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75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FRESCURA (TTL)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417320" y="6737271"/>
            <a:ext cx="5536311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 48 h · crowdsourcing 24 h</a:t>
            </a:r>
            <a:endParaRPr lang="en-US" sz="2175" dirty="0"/>
          </a:p>
        </p:txBody>
      </p:sp>
      <p:sp>
        <p:nvSpPr>
          <p:cNvPr id="21" name="Shape 19"/>
          <p:cNvSpPr/>
          <p:nvPr/>
        </p:nvSpPr>
        <p:spPr>
          <a:xfrm>
            <a:off x="6972300" y="6055281"/>
            <a:ext cx="5619750" cy="1310164"/>
          </a:xfrm>
          <a:prstGeom prst="roundRect">
            <a:avLst>
              <a:gd name="adj" fmla="val 10178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265670" y="6310551"/>
            <a:ext cx="553631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75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7265670" y="6737271"/>
            <a:ext cx="5536311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 Beat · respeta robots.txt</a:t>
            </a:r>
            <a:endParaRPr lang="en-US" sz="2175" dirty="0"/>
          </a:p>
        </p:txBody>
      </p:sp>
      <p:sp>
        <p:nvSpPr>
          <p:cNvPr id="24" name="Shape 22"/>
          <p:cNvSpPr/>
          <p:nvPr/>
        </p:nvSpPr>
        <p:spPr>
          <a:xfrm>
            <a:off x="13163550" y="4153853"/>
            <a:ext cx="4000500" cy="3783330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13552170" y="4523422"/>
            <a:ext cx="3319958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BF5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 DE LA FUENTE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3552170" y="5441632"/>
            <a:ext cx="2363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3864710" y="5434013"/>
            <a:ext cx="135107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oficial</a:t>
            </a:r>
            <a:endParaRPr lang="en-US" sz="2175" dirty="0"/>
          </a:p>
        </p:txBody>
      </p:sp>
      <p:sp>
        <p:nvSpPr>
          <p:cNvPr id="28" name="Text 26"/>
          <p:cNvSpPr/>
          <p:nvPr/>
        </p:nvSpPr>
        <p:spPr>
          <a:xfrm>
            <a:off x="13552170" y="6074093"/>
            <a:ext cx="2363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3864710" y="5906453"/>
            <a:ext cx="2998043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 verificado (PYME)</a:t>
            </a:r>
            <a:endParaRPr lang="en-US" sz="2175" dirty="0"/>
          </a:p>
        </p:txBody>
      </p:sp>
      <p:sp>
        <p:nvSpPr>
          <p:cNvPr id="30" name="Text 28"/>
          <p:cNvSpPr/>
          <p:nvPr/>
        </p:nvSpPr>
        <p:spPr>
          <a:xfrm>
            <a:off x="13552170" y="6725603"/>
            <a:ext cx="2363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3864710" y="6698932"/>
            <a:ext cx="11988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</a:t>
            </a:r>
            <a:endParaRPr lang="en-US" sz="2175" dirty="0"/>
          </a:p>
        </p:txBody>
      </p:sp>
      <p:sp>
        <p:nvSpPr>
          <p:cNvPr id="32" name="Text 30"/>
          <p:cNvSpPr/>
          <p:nvPr/>
        </p:nvSpPr>
        <p:spPr>
          <a:xfrm>
            <a:off x="13552170" y="7236143"/>
            <a:ext cx="2363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3864710" y="7209473"/>
            <a:ext cx="211972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Crowdsourcing</a:t>
            </a:r>
            <a:endParaRPr lang="en-US" sz="21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81125" y="800100"/>
            <a:ext cx="500392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VISIÓN POR COMPUTADOR · OCR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51292" y="800100"/>
            <a:ext cx="11889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23950" y="1390650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23950" y="1781175"/>
            <a:ext cx="176441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12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Fotografía tu lista, nosotros la digitalizamos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23950" y="3569018"/>
            <a:ext cx="3542109" cy="4953000"/>
          </a:xfrm>
          <a:prstGeom prst="roundRect">
            <a:avLst>
              <a:gd name="adj" fmla="val 3227"/>
            </a:avLst>
          </a:prstGeom>
          <a:ln w="7620">
            <a:solidFill>
              <a:srgbClr val="E2E0D5"/>
            </a:solidFill>
            <a:prstDash val="solid"/>
          </a:ln>
          <a:effectLst>
            <a:outerShdw blurRad="476250" dist="209550" dir="5400000" algn="bl" rotWithShape="0">
              <a:srgbClr val="141E18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3569018"/>
            <a:ext cx="3542109" cy="4953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75659" y="4144089"/>
            <a:ext cx="41921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5847279" y="4144089"/>
            <a:ext cx="487649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Vision API</a:t>
            </a:r>
            <a:endParaRPr lang="en-US" sz="2475" dirty="0"/>
          </a:p>
        </p:txBody>
      </p:sp>
      <p:sp>
        <p:nvSpPr>
          <p:cNvPr id="11" name="Text 8"/>
          <p:cNvSpPr/>
          <p:nvPr/>
        </p:nvSpPr>
        <p:spPr>
          <a:xfrm>
            <a:off x="5847279" y="4540330"/>
            <a:ext cx="4876491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 el texto de la foto o el ticket</a:t>
            </a:r>
            <a:endParaRPr lang="en-US" sz="2175" dirty="0"/>
          </a:p>
        </p:txBody>
      </p:sp>
      <p:sp>
        <p:nvSpPr>
          <p:cNvPr id="12" name="Text 9"/>
          <p:cNvSpPr/>
          <p:nvPr/>
        </p:nvSpPr>
        <p:spPr>
          <a:xfrm>
            <a:off x="5275659" y="5122783"/>
            <a:ext cx="41921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5847279" y="5122783"/>
            <a:ext cx="773082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difuso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5847279" y="5519023"/>
            <a:ext cx="7730824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 el catálogo normalizado, con score de confianza</a:t>
            </a:r>
            <a:endParaRPr lang="en-US" sz="2175" dirty="0"/>
          </a:p>
        </p:txBody>
      </p:sp>
      <p:sp>
        <p:nvSpPr>
          <p:cNvPr id="15" name="Text 12"/>
          <p:cNvSpPr/>
          <p:nvPr/>
        </p:nvSpPr>
        <p:spPr>
          <a:xfrm>
            <a:off x="5275659" y="6101477"/>
            <a:ext cx="41921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5847279" y="6101477"/>
            <a:ext cx="605547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del usuario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5847279" y="6497717"/>
            <a:ext cx="6055471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 o corrige antes de añadir a la lista</a:t>
            </a:r>
            <a:endParaRPr lang="en-US" sz="2175" dirty="0"/>
          </a:p>
        </p:txBody>
      </p:sp>
      <p:sp>
        <p:nvSpPr>
          <p:cNvPr id="18" name="Shape 15"/>
          <p:cNvSpPr/>
          <p:nvPr/>
        </p:nvSpPr>
        <p:spPr>
          <a:xfrm>
            <a:off x="5275659" y="7156371"/>
            <a:ext cx="11888391" cy="790575"/>
          </a:xfrm>
          <a:prstGeom prst="roundRect">
            <a:avLst>
              <a:gd name="adj" fmla="val 16867"/>
            </a:avLst>
          </a:prstGeom>
          <a:solidFill>
            <a:srgbClr val="E8F2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5561409" y="7384971"/>
            <a:ext cx="1167354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ADR-007: </a:t>
            </a:r>
            <a:r>
              <a:rPr lang="en-US" sz="1875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supera ampliamente a Tesseract en tickets térmicos degradados.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81125" y="800100"/>
            <a:ext cx="4447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ASISTENTE CONVERSACIONAL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51292" y="800100"/>
            <a:ext cx="11889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23950" y="1390650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23950" y="1781175"/>
            <a:ext cx="176441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12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en lenguaje natural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23950" y="3910727"/>
            <a:ext cx="11239500" cy="1604010"/>
          </a:xfrm>
          <a:prstGeom prst="roundRect">
            <a:avLst>
              <a:gd name="adj" fmla="val 13064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  <a:effectLst>
            <a:outerShdw blurRad="228600" dist="76200" dir="5400000" algn="bl" rotWithShape="0">
              <a:srgbClr val="141E18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550670" y="4242197"/>
            <a:ext cx="10723245" cy="979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«¿Dónde compro los ingredientes para una paella para 10 personas al mejor precio?»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123950" y="5838587"/>
            <a:ext cx="5181600" cy="2208371"/>
          </a:xfrm>
          <a:prstGeom prst="roundRect">
            <a:avLst>
              <a:gd name="adj" fmla="val 7764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474470" y="6151007"/>
            <a:ext cx="492861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13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 BACKEND · RAG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474470" y="6615827"/>
            <a:ext cx="4614977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backend enriquece la consulta con precios, tiendas y la lista reales del usuario.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6553200" y="5838587"/>
            <a:ext cx="5181600" cy="2208371"/>
          </a:xfrm>
          <a:prstGeom prst="roundRect">
            <a:avLst>
              <a:gd name="adj" fmla="val 7764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903720" y="6151007"/>
            <a:ext cx="492861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13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2.0 FLASH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6903720" y="6615827"/>
            <a:ext cx="4614977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rápidas; el frontend nunca habla directamente con el LLM.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11982450" y="5838587"/>
            <a:ext cx="5181600" cy="2208371"/>
          </a:xfrm>
          <a:prstGeom prst="roundRect">
            <a:avLst>
              <a:gd name="adj" fmla="val 7764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2332970" y="6151007"/>
            <a:ext cx="492861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13" dirty="0">
                <a:solidFill>
                  <a:srgbClr val="BF5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2332970" y="6615827"/>
            <a:ext cx="4614977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dominio de compra · 30 peticiones/hora · historial de 20 mensajes.</a:t>
            </a:r>
            <a:endParaRPr lang="en-US" sz="21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81125" y="800100"/>
            <a:ext cx="38918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 PARA COMERCIOS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51292" y="800100"/>
            <a:ext cx="11889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23950" y="1390650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23950" y="1781175"/>
            <a:ext cx="176441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12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comercio local, dentro de la ecuación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123950" y="2585085"/>
            <a:ext cx="12165330" cy="886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PYMEs se registran, verifican su identidad fiscal y compiten en igualdad con las grandes cadenas.</a:t>
            </a:r>
            <a:endParaRPr lang="en-US" sz="2475" dirty="0"/>
          </a:p>
        </p:txBody>
      </p:sp>
      <p:sp>
        <p:nvSpPr>
          <p:cNvPr id="8" name="Shape 6"/>
          <p:cNvSpPr/>
          <p:nvPr/>
        </p:nvSpPr>
        <p:spPr>
          <a:xfrm>
            <a:off x="1123950" y="5117306"/>
            <a:ext cx="517398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493520" y="5691188"/>
            <a:ext cx="487832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13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 Y VERIFICACIÓN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493520" y="6175057"/>
            <a:ext cx="4567885" cy="1263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con verificación fiscal y aprobación del administrador</a:t>
            </a:r>
            <a:endParaRPr lang="en-US" sz="2475" dirty="0"/>
          </a:p>
        </p:txBody>
      </p:sp>
      <p:sp>
        <p:nvSpPr>
          <p:cNvPr id="11" name="Shape 9"/>
          <p:cNvSpPr/>
          <p:nvPr/>
        </p:nvSpPr>
        <p:spPr>
          <a:xfrm>
            <a:off x="6564630" y="5117306"/>
            <a:ext cx="517398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934200" y="5691188"/>
            <a:ext cx="487832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13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GESTIÓN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6934200" y="6175057"/>
            <a:ext cx="4567885" cy="1263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 individuales o por CSV, promociones temporales y dashboard</a:t>
            </a:r>
            <a:endParaRPr lang="en-US" sz="2475" dirty="0"/>
          </a:p>
        </p:txBody>
      </p:sp>
      <p:sp>
        <p:nvSpPr>
          <p:cNvPr id="14" name="Shape 12"/>
          <p:cNvSpPr/>
          <p:nvPr/>
        </p:nvSpPr>
        <p:spPr>
          <a:xfrm>
            <a:off x="12005310" y="5117306"/>
            <a:ext cx="5158740" cy="2857500"/>
          </a:xfrm>
          <a:prstGeom prst="roundRect">
            <a:avLst>
              <a:gd name="adj" fmla="val 6000"/>
            </a:avLst>
          </a:prstGeom>
          <a:solidFill>
            <a:srgbClr val="15994A"/>
          </a:solidFill>
          <a:ln/>
          <a:effectLst>
            <a:outerShdw blurRad="342900" dist="152400" dir="5400000" algn="bl" rotWithShape="0">
              <a:srgbClr val="15994A">
                <a:alpha val="2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2367260" y="5691188"/>
            <a:ext cx="487832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13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VENTAJA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2367260" y="6175057"/>
            <a:ext cx="4567885" cy="1263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 de negocio verificado tiene la máxima prioridad del sistema</a:t>
            </a:r>
            <a:endParaRPr lang="en-US" sz="24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524000" y="64770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9649" y="2827020"/>
            <a:ext cx="332870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300" dirty="0">
                <a:solidFill>
                  <a:srgbClr val="27B2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19 · EN VIVO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8429625" y="3569970"/>
            <a:ext cx="1428750" cy="1428750"/>
          </a:xfrm>
          <a:prstGeom prst="ellipse">
            <a:avLst/>
          </a:prstGeom>
          <a:solidFill>
            <a:srgbClr val="15994A"/>
          </a:solidFill>
          <a:ln/>
          <a:effectLst>
            <a:outerShdw blurRad="101600" dist="50800" dir="16200000" algn="bl" rotWithShape="0">
              <a:srgbClr val="27B25E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8983980" y="4002405"/>
            <a:ext cx="434340" cy="563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122218" y="5398770"/>
            <a:ext cx="804344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6300" b="1" kern="0" spc="-15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 en vivo</a:t>
            </a:r>
            <a:endParaRPr lang="en-US" sz="6300" dirty="0"/>
          </a:p>
        </p:txBody>
      </p:sp>
      <p:sp>
        <p:nvSpPr>
          <p:cNvPr id="7" name="Text 4"/>
          <p:cNvSpPr/>
          <p:nvPr/>
        </p:nvSpPr>
        <p:spPr>
          <a:xfrm>
            <a:off x="3748087" y="6579870"/>
            <a:ext cx="10791825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475" dirty="0">
                <a:solidFill>
                  <a:srgbClr val="A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→ crear lista → optimizar → ruta en el mapa → OCR de un ticket → asistente conversacional</a:t>
            </a:r>
            <a:endParaRPr lang="en-US" sz="24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81125" y="800100"/>
            <a:ext cx="40771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CALIDAD Y VERIFICACIÓN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51292" y="800100"/>
            <a:ext cx="11889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23950" y="1390650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23950" y="1781175"/>
            <a:ext cx="176441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12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 en cada push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23950" y="2699385"/>
            <a:ext cx="3838575" cy="6170295"/>
          </a:xfrm>
          <a:prstGeom prst="roundRect">
            <a:avLst>
              <a:gd name="adj" fmla="val 4467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436370" y="4986338"/>
            <a:ext cx="3535108" cy="79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600" b="1" kern="0" spc="-225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1436370" y="5912168"/>
            <a:ext cx="35351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backend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436370" y="6270307"/>
            <a:ext cx="353510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 unit · 171 integración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5191125" y="2699385"/>
            <a:ext cx="3838575" cy="6170295"/>
          </a:xfrm>
          <a:prstGeom prst="roundRect">
            <a:avLst>
              <a:gd name="adj" fmla="val 4467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503545" y="4986338"/>
            <a:ext cx="3535108" cy="79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600" b="1" kern="0" spc="-225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5503545" y="5912168"/>
            <a:ext cx="35351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5503545" y="6270307"/>
            <a:ext cx="353510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bloqueante en CI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258300" y="2699385"/>
            <a:ext cx="3838575" cy="6170295"/>
          </a:xfrm>
          <a:prstGeom prst="roundRect">
            <a:avLst>
              <a:gd name="adj" fmla="val 4467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9570720" y="4986338"/>
            <a:ext cx="3535108" cy="79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600" b="1" kern="0" spc="-225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6600" dirty="0"/>
          </a:p>
        </p:txBody>
      </p:sp>
      <p:sp>
        <p:nvSpPr>
          <p:cNvPr id="17" name="Text 15"/>
          <p:cNvSpPr/>
          <p:nvPr/>
        </p:nvSpPr>
        <p:spPr>
          <a:xfrm>
            <a:off x="9570720" y="5912168"/>
            <a:ext cx="35351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frontend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9570720" y="6270307"/>
            <a:ext cx="353510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 · 15 suites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3325475" y="2699385"/>
            <a:ext cx="3838575" cy="6170295"/>
          </a:xfrm>
          <a:prstGeom prst="roundRect">
            <a:avLst>
              <a:gd name="adj" fmla="val 4467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3637895" y="4986338"/>
            <a:ext cx="3535108" cy="79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600" b="1" kern="0" spc="-225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600" dirty="0"/>
          </a:p>
        </p:txBody>
      </p:sp>
      <p:sp>
        <p:nvSpPr>
          <p:cNvPr id="21" name="Text 19"/>
          <p:cNvSpPr/>
          <p:nvPr/>
        </p:nvSpPr>
        <p:spPr>
          <a:xfrm>
            <a:off x="13637895" y="5912168"/>
            <a:ext cx="35351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flujos E2E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13637895" y="6270307"/>
            <a:ext cx="353510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123950" y="9136380"/>
            <a:ext cx="207169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BF5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388269" y="9136380"/>
            <a:ext cx="561070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workflows CI/CD en GitHub Actions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6622256" y="9136380"/>
            <a:ext cx="22193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6901339" y="9136380"/>
            <a:ext cx="288550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&lt; 500 ms (p95)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9657874" y="9136380"/>
            <a:ext cx="22193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9936956" y="9136380"/>
            <a:ext cx="336642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cálculo de ruta &lt; 5 s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81125" y="800100"/>
            <a:ext cx="500392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METODOLOGÍA Y PLANIFICACIÓN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51292" y="800100"/>
            <a:ext cx="11889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23950" y="1390650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23950" y="1743075"/>
            <a:ext cx="176441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12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Siete fases, 325 horas, proceso trazable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23950" y="2661285"/>
            <a:ext cx="2193369" cy="1078230"/>
          </a:xfrm>
          <a:prstGeom prst="roundRect">
            <a:avLst>
              <a:gd name="adj" fmla="val 10601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190304" y="2878455"/>
            <a:ext cx="206066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90304" y="3236595"/>
            <a:ext cx="20606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y diseño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31619" y="2661285"/>
            <a:ext cx="2193488" cy="1078230"/>
          </a:xfrm>
          <a:prstGeom prst="roundRect">
            <a:avLst>
              <a:gd name="adj" fmla="val 10601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497967" y="2878455"/>
            <a:ext cx="206079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497967" y="3236595"/>
            <a:ext cx="20607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39408" y="2661285"/>
            <a:ext cx="2193488" cy="1078230"/>
          </a:xfrm>
          <a:prstGeom prst="roundRect">
            <a:avLst>
              <a:gd name="adj" fmla="val 10601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805755" y="2878455"/>
            <a:ext cx="206079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805755" y="3236595"/>
            <a:ext cx="20607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backend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47197" y="2661285"/>
            <a:ext cx="2193488" cy="1078230"/>
          </a:xfrm>
          <a:prstGeom prst="roundRect">
            <a:avLst>
              <a:gd name="adj" fmla="val 10601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113544" y="2878455"/>
            <a:ext cx="206079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113544" y="3236595"/>
            <a:ext cx="20607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354985" y="2661285"/>
            <a:ext cx="2193488" cy="1078230"/>
          </a:xfrm>
          <a:prstGeom prst="roundRect">
            <a:avLst>
              <a:gd name="adj" fmla="val 10601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0421332" y="2878455"/>
            <a:ext cx="206079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421332" y="3236595"/>
            <a:ext cx="20607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y optimización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662774" y="2661285"/>
            <a:ext cx="2193488" cy="1078230"/>
          </a:xfrm>
          <a:prstGeom prst="roundRect">
            <a:avLst>
              <a:gd name="adj" fmla="val 10601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12729120" y="2878455"/>
            <a:ext cx="206079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F6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729120" y="3236595"/>
            <a:ext cx="20607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business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4970562" y="2661285"/>
            <a:ext cx="2193488" cy="1078230"/>
          </a:xfrm>
          <a:prstGeom prst="roundRect">
            <a:avLst>
              <a:gd name="adj" fmla="val 10601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15036910" y="2878455"/>
            <a:ext cx="206079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5036910" y="3236595"/>
            <a:ext cx="20607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y cierre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23950" y="4025265"/>
            <a:ext cx="3429000" cy="5461635"/>
          </a:xfrm>
          <a:prstGeom prst="roundRect">
            <a:avLst>
              <a:gd name="adj" fmla="val 5000"/>
            </a:avLst>
          </a:prstGeom>
          <a:solidFill>
            <a:srgbClr val="E8F2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1504950" y="5756672"/>
            <a:ext cx="29337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225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325 h</a:t>
            </a:r>
            <a:endParaRPr lang="en-US" sz="5400" dirty="0"/>
          </a:p>
        </p:txBody>
      </p:sp>
      <p:sp>
        <p:nvSpPr>
          <p:cNvPr id="30" name="Text 28"/>
          <p:cNvSpPr/>
          <p:nvPr/>
        </p:nvSpPr>
        <p:spPr>
          <a:xfrm>
            <a:off x="1504950" y="6636782"/>
            <a:ext cx="2747010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a 300 planificadas · sprints de 2 semanas</a:t>
            </a:r>
            <a:endParaRPr lang="en-US" sz="2175" dirty="0"/>
          </a:p>
        </p:txBody>
      </p:sp>
      <p:sp>
        <p:nvSpPr>
          <p:cNvPr id="31" name="Shape 29"/>
          <p:cNvSpPr/>
          <p:nvPr/>
        </p:nvSpPr>
        <p:spPr>
          <a:xfrm>
            <a:off x="4819650" y="4025265"/>
            <a:ext cx="12344400" cy="5461635"/>
          </a:xfrm>
          <a:prstGeom prst="roundRect">
            <a:avLst>
              <a:gd name="adj" fmla="val 3139"/>
            </a:avLst>
          </a:prstGeom>
          <a:solidFill>
            <a:srgbClr val="161F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238750" y="6105525"/>
            <a:ext cx="1265682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27B2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DIFERENCIADOR · MÉTODO GSD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5238750" y="6589395"/>
            <a:ext cx="11851386" cy="855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75" b="1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asistido por IA, gobernado y trazable: la IA ejecuta; el proceso lo diseña y supervisa el autor.</a:t>
            </a:r>
            <a:endParaRPr lang="en-US" sz="24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81125" y="800100"/>
            <a:ext cx="4447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METODOLOGÍA · MÉTODO GSD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51292" y="800100"/>
            <a:ext cx="11889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23950" y="1390650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23950" y="1552575"/>
            <a:ext cx="176441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12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de IA bajo un proceso gobernado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123950" y="2242185"/>
            <a:ext cx="12753975" cy="886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Stuff Done (GSD): </a:t>
            </a:r>
            <a:r>
              <a:rPr lang="en-US" sz="24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método que dirige a los agentes y deja rastro verificable de cada decisión.</a:t>
            </a:r>
            <a:endParaRPr lang="en-US" sz="2475" dirty="0"/>
          </a:p>
        </p:txBody>
      </p:sp>
      <p:sp>
        <p:nvSpPr>
          <p:cNvPr id="8" name="Shape 6"/>
          <p:cNvSpPr/>
          <p:nvPr/>
        </p:nvSpPr>
        <p:spPr>
          <a:xfrm>
            <a:off x="1123950" y="3186113"/>
            <a:ext cx="5334000" cy="5548313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493520" y="3498533"/>
            <a:ext cx="505434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CICLO GOBERNADO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493520" y="4108133"/>
            <a:ext cx="381000" cy="381000"/>
          </a:xfrm>
          <a:prstGeom prst="ellipse">
            <a:avLst/>
          </a:prstGeom>
          <a:solidFill>
            <a:srgbClr val="E8F2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455420" y="4108133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45970" y="3982403"/>
            <a:ext cx="37428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2045970" y="4302443"/>
            <a:ext cx="374282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y criterios de aceptación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493520" y="4835843"/>
            <a:ext cx="381000" cy="381000"/>
          </a:xfrm>
          <a:prstGeom prst="ellipse">
            <a:avLst/>
          </a:prstGeom>
          <a:solidFill>
            <a:srgbClr val="E8F2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455420" y="4835843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45970" y="4710113"/>
            <a:ext cx="42782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2045970" y="5030153"/>
            <a:ext cx="427822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de IA implementa la tarea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493520" y="5563553"/>
            <a:ext cx="381000" cy="381000"/>
          </a:xfrm>
          <a:prstGeom prst="ellipse">
            <a:avLst/>
          </a:prstGeom>
          <a:solidFill>
            <a:srgbClr val="E8F2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1455420" y="5563553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45970" y="5437823"/>
            <a:ext cx="332922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2045970" y="5757863"/>
            <a:ext cx="332922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· lint · cobertura ≥80%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493520" y="6291263"/>
            <a:ext cx="381000" cy="381000"/>
          </a:xfrm>
          <a:prstGeom prst="ellipse">
            <a:avLst/>
          </a:prstGeom>
          <a:solidFill>
            <a:srgbClr val="E8F2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1455420" y="6291263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045970" y="6165532"/>
            <a:ext cx="410456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2045970" y="6485573"/>
            <a:ext cx="410456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resultado, decisión y aprendizajes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493520" y="7352348"/>
            <a:ext cx="459486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1493520" y="7770972"/>
            <a:ext cx="299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B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850350" y="7493318"/>
            <a:ext cx="4365171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error genera una </a:t>
            </a:r>
            <a:r>
              <a:rPr lang="en-US" sz="18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prevención </a:t>
            </a:r>
            <a:r>
              <a:rPr lang="en-US" sz="1875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retroalimenta la planificación.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6762750" y="3186113"/>
            <a:ext cx="10401300" cy="1272778"/>
          </a:xfrm>
          <a:prstGeom prst="roundRect">
            <a:avLst>
              <a:gd name="adj" fmla="val 10477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7056120" y="3434358"/>
            <a:ext cx="1079601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.planning/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7056120" y="3851553"/>
            <a:ext cx="10796016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viva: roadmap, estado y verificación por fase</a:t>
            </a:r>
            <a:endParaRPr lang="en-US" sz="2175" dirty="0"/>
          </a:p>
        </p:txBody>
      </p:sp>
      <p:sp>
        <p:nvSpPr>
          <p:cNvPr id="32" name="Shape 30"/>
          <p:cNvSpPr/>
          <p:nvPr/>
        </p:nvSpPr>
        <p:spPr>
          <a:xfrm>
            <a:off x="6762750" y="4611291"/>
            <a:ext cx="10401300" cy="1272778"/>
          </a:xfrm>
          <a:prstGeom prst="roundRect">
            <a:avLst>
              <a:gd name="adj" fmla="val 10477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7056120" y="4848106"/>
            <a:ext cx="1079601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TASKS.md ↔ Notion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7056120" y="5265301"/>
            <a:ext cx="10796016" cy="420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Trazabilidad: cada tarea con ID </a:t>
            </a:r>
            <a:r>
              <a:rPr lang="en-US" sz="2175" b="1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FX-NN</a:t>
            </a: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citada en cada commit</a:t>
            </a:r>
            <a:endParaRPr lang="en-US" sz="2175" dirty="0"/>
          </a:p>
        </p:txBody>
      </p:sp>
      <p:sp>
        <p:nvSpPr>
          <p:cNvPr id="35" name="Shape 33"/>
          <p:cNvSpPr/>
          <p:nvPr/>
        </p:nvSpPr>
        <p:spPr>
          <a:xfrm>
            <a:off x="6762750" y="6036469"/>
            <a:ext cx="10401300" cy="1272778"/>
          </a:xfrm>
          <a:prstGeom prst="roundRect">
            <a:avLst>
              <a:gd name="adj" fmla="val 10477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7056120" y="6284714"/>
            <a:ext cx="1079601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ai-mistakes-log.md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7056120" y="6701909"/>
            <a:ext cx="10796016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de agentes con causa raíz y regla de prevención</a:t>
            </a:r>
            <a:endParaRPr lang="en-US" sz="2175" dirty="0"/>
          </a:p>
        </p:txBody>
      </p:sp>
      <p:sp>
        <p:nvSpPr>
          <p:cNvPr id="38" name="Shape 36"/>
          <p:cNvSpPr/>
          <p:nvPr/>
        </p:nvSpPr>
        <p:spPr>
          <a:xfrm>
            <a:off x="6762750" y="7461647"/>
            <a:ext cx="10401300" cy="1272778"/>
          </a:xfrm>
          <a:prstGeom prst="roundRect">
            <a:avLst>
              <a:gd name="adj" fmla="val 10477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7056120" y="7709892"/>
            <a:ext cx="1079601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7056120" y="8127087"/>
            <a:ext cx="10796016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e instrucciones que gobiernan a cada agente</a:t>
            </a:r>
            <a:endParaRPr lang="en-US" sz="2175" dirty="0"/>
          </a:p>
        </p:txBody>
      </p:sp>
      <p:sp>
        <p:nvSpPr>
          <p:cNvPr id="41" name="Shape 39"/>
          <p:cNvSpPr/>
          <p:nvPr/>
        </p:nvSpPr>
        <p:spPr>
          <a:xfrm>
            <a:off x="1123950" y="8848725"/>
            <a:ext cx="16040100" cy="638175"/>
          </a:xfrm>
          <a:prstGeom prst="roundRect">
            <a:avLst>
              <a:gd name="adj" fmla="val 23881"/>
            </a:avLst>
          </a:prstGeom>
          <a:solidFill>
            <a:srgbClr val="161F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1504950" y="9001125"/>
            <a:ext cx="157593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EAF2EC"/>
                </a:solidFill>
                <a:highlight>
                  <a:srgbClr val="161F1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Los agentes </a:t>
            </a:r>
            <a:r>
              <a:rPr lang="en-US" sz="1875" b="1" dirty="0">
                <a:solidFill>
                  <a:srgbClr val="27B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ejecutan</a:t>
            </a:r>
            <a:r>
              <a:rPr lang="en-US" sz="1875" dirty="0">
                <a:solidFill>
                  <a:srgbClr val="EAF2EC"/>
                </a:solidFill>
                <a:highlight>
                  <a:srgbClr val="161F1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; el autor </a:t>
            </a:r>
            <a:r>
              <a:rPr lang="en-US" sz="1875" b="1" dirty="0">
                <a:solidFill>
                  <a:srgbClr val="27B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 y supervisa </a:t>
            </a:r>
            <a:r>
              <a:rPr lang="en-US" sz="1875" dirty="0">
                <a:solidFill>
                  <a:srgbClr val="EAF2EC"/>
                </a:solidFill>
                <a:highlight>
                  <a:srgbClr val="161F1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el proceso. Reproducible clonando el repositorio.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81125" y="800100"/>
            <a:ext cx="481860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DIFERENCIACIÓN COMPETITIVA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51292" y="800100"/>
            <a:ext cx="11889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23950" y="1390650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23950" y="1724025"/>
            <a:ext cx="176441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12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única que integra las cinco capacidades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23950" y="3068955"/>
            <a:ext cx="16040100" cy="15240"/>
          </a:xfrm>
          <a:prstGeom prst="rect">
            <a:avLst/>
          </a:prstGeom>
          <a:solidFill>
            <a:srgbClr val="1722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123950" y="2566035"/>
            <a:ext cx="651464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75" dirty="0">
                <a:solidFill>
                  <a:srgbClr val="5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CAPACIDAD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6922973" y="2604135"/>
            <a:ext cx="27144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Soysuper / OCU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390656" y="2604135"/>
            <a:ext cx="271458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Tiendeo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858470" y="2604135"/>
            <a:ext cx="27144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5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súper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4313819" y="2604135"/>
            <a:ext cx="298595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BarGAIN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123950" y="3933825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123950" y="3348990"/>
            <a:ext cx="651464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 precios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6922973" y="3284220"/>
            <a:ext cx="2714458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390656" y="3299460"/>
            <a:ext cx="271458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B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1858470" y="3284220"/>
            <a:ext cx="2714458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4449545" y="3284220"/>
            <a:ext cx="2714506" cy="449580"/>
          </a:xfrm>
          <a:prstGeom prst="roundRect">
            <a:avLst>
              <a:gd name="adj" fmla="val 16949"/>
            </a:avLst>
          </a:prstGeom>
          <a:solidFill>
            <a:srgbClr val="E8F2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14313819" y="3284220"/>
            <a:ext cx="2985957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123950" y="4791075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123950" y="4206240"/>
            <a:ext cx="651464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óptima multiparada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6922973" y="4141470"/>
            <a:ext cx="2714458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390656" y="4141470"/>
            <a:ext cx="2714589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1858470" y="4141470"/>
            <a:ext cx="2714458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4449545" y="4141470"/>
            <a:ext cx="2714506" cy="449580"/>
          </a:xfrm>
          <a:prstGeom prst="roundRect">
            <a:avLst>
              <a:gd name="adj" fmla="val 16949"/>
            </a:avLst>
          </a:prstGeom>
          <a:solidFill>
            <a:srgbClr val="E8F2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14313819" y="4141470"/>
            <a:ext cx="2985957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1123950" y="5648325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1123950" y="5063490"/>
            <a:ext cx="651464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Cruce precio · distancia · tiempo</a:t>
            </a:r>
            <a:endParaRPr lang="en-US" sz="2175" dirty="0"/>
          </a:p>
        </p:txBody>
      </p:sp>
      <p:sp>
        <p:nvSpPr>
          <p:cNvPr id="29" name="Text 27"/>
          <p:cNvSpPr/>
          <p:nvPr/>
        </p:nvSpPr>
        <p:spPr>
          <a:xfrm>
            <a:off x="6922973" y="4998720"/>
            <a:ext cx="2714458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9390656" y="4998720"/>
            <a:ext cx="2714589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11858470" y="4998720"/>
            <a:ext cx="2714458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550" dirty="0"/>
          </a:p>
        </p:txBody>
      </p:sp>
      <p:sp>
        <p:nvSpPr>
          <p:cNvPr id="32" name="Shape 30"/>
          <p:cNvSpPr/>
          <p:nvPr/>
        </p:nvSpPr>
        <p:spPr>
          <a:xfrm>
            <a:off x="14449545" y="4998720"/>
            <a:ext cx="2714506" cy="449580"/>
          </a:xfrm>
          <a:prstGeom prst="roundRect">
            <a:avLst>
              <a:gd name="adj" fmla="val 16949"/>
            </a:avLst>
          </a:prstGeom>
          <a:solidFill>
            <a:srgbClr val="E8F2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14313819" y="4998720"/>
            <a:ext cx="2985957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550" dirty="0"/>
          </a:p>
        </p:txBody>
      </p:sp>
      <p:sp>
        <p:nvSpPr>
          <p:cNvPr id="34" name="Shape 32"/>
          <p:cNvSpPr/>
          <p:nvPr/>
        </p:nvSpPr>
        <p:spPr>
          <a:xfrm>
            <a:off x="1123950" y="6505575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1123950" y="5920740"/>
            <a:ext cx="651464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de lista / ticket</a:t>
            </a:r>
            <a:endParaRPr lang="en-US" sz="2175" dirty="0"/>
          </a:p>
        </p:txBody>
      </p:sp>
      <p:sp>
        <p:nvSpPr>
          <p:cNvPr id="36" name="Text 34"/>
          <p:cNvSpPr/>
          <p:nvPr/>
        </p:nvSpPr>
        <p:spPr>
          <a:xfrm>
            <a:off x="6922973" y="5855970"/>
            <a:ext cx="2714458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550" dirty="0"/>
          </a:p>
        </p:txBody>
      </p:sp>
      <p:sp>
        <p:nvSpPr>
          <p:cNvPr id="37" name="Text 35"/>
          <p:cNvSpPr/>
          <p:nvPr/>
        </p:nvSpPr>
        <p:spPr>
          <a:xfrm>
            <a:off x="9390656" y="5855970"/>
            <a:ext cx="2714589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550" dirty="0"/>
          </a:p>
        </p:txBody>
      </p:sp>
      <p:sp>
        <p:nvSpPr>
          <p:cNvPr id="38" name="Text 36"/>
          <p:cNvSpPr/>
          <p:nvPr/>
        </p:nvSpPr>
        <p:spPr>
          <a:xfrm>
            <a:off x="11858470" y="5871210"/>
            <a:ext cx="271445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B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2550" dirty="0"/>
          </a:p>
        </p:txBody>
      </p:sp>
      <p:sp>
        <p:nvSpPr>
          <p:cNvPr id="39" name="Shape 37"/>
          <p:cNvSpPr/>
          <p:nvPr/>
        </p:nvSpPr>
        <p:spPr>
          <a:xfrm>
            <a:off x="14449545" y="5855970"/>
            <a:ext cx="2714506" cy="449580"/>
          </a:xfrm>
          <a:prstGeom prst="roundRect">
            <a:avLst>
              <a:gd name="adj" fmla="val 16949"/>
            </a:avLst>
          </a:prstGeom>
          <a:solidFill>
            <a:srgbClr val="E8F2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14313819" y="5855970"/>
            <a:ext cx="2985957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550" dirty="0"/>
          </a:p>
        </p:txBody>
      </p:sp>
      <p:sp>
        <p:nvSpPr>
          <p:cNvPr id="41" name="Shape 39"/>
          <p:cNvSpPr/>
          <p:nvPr/>
        </p:nvSpPr>
        <p:spPr>
          <a:xfrm>
            <a:off x="1123950" y="7362825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1123950" y="6777990"/>
            <a:ext cx="651464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para comercios + asistente LLM</a:t>
            </a:r>
            <a:endParaRPr lang="en-US" sz="2175" dirty="0"/>
          </a:p>
        </p:txBody>
      </p:sp>
      <p:sp>
        <p:nvSpPr>
          <p:cNvPr id="43" name="Text 41"/>
          <p:cNvSpPr/>
          <p:nvPr/>
        </p:nvSpPr>
        <p:spPr>
          <a:xfrm>
            <a:off x="6922973" y="6713220"/>
            <a:ext cx="2714458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550" dirty="0"/>
          </a:p>
        </p:txBody>
      </p:sp>
      <p:sp>
        <p:nvSpPr>
          <p:cNvPr id="44" name="Text 42"/>
          <p:cNvSpPr/>
          <p:nvPr/>
        </p:nvSpPr>
        <p:spPr>
          <a:xfrm>
            <a:off x="9390656" y="6713220"/>
            <a:ext cx="2714589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550" dirty="0"/>
          </a:p>
        </p:txBody>
      </p:sp>
      <p:sp>
        <p:nvSpPr>
          <p:cNvPr id="45" name="Text 43"/>
          <p:cNvSpPr/>
          <p:nvPr/>
        </p:nvSpPr>
        <p:spPr>
          <a:xfrm>
            <a:off x="11858470" y="6713220"/>
            <a:ext cx="2714458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9A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550" dirty="0"/>
          </a:p>
        </p:txBody>
      </p:sp>
      <p:sp>
        <p:nvSpPr>
          <p:cNvPr id="46" name="Shape 44"/>
          <p:cNvSpPr/>
          <p:nvPr/>
        </p:nvSpPr>
        <p:spPr>
          <a:xfrm>
            <a:off x="14449545" y="6713220"/>
            <a:ext cx="2714506" cy="449580"/>
          </a:xfrm>
          <a:prstGeom prst="roundRect">
            <a:avLst>
              <a:gd name="adj" fmla="val 16949"/>
            </a:avLst>
          </a:prstGeom>
          <a:solidFill>
            <a:srgbClr val="E8F2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14313819" y="6713220"/>
            <a:ext cx="2985957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81125" y="800100"/>
            <a:ext cx="22239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51292" y="800100"/>
            <a:ext cx="11889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23950" y="1390650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23950" y="1781175"/>
            <a:ext cx="176441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12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ideas para llevarse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23950" y="3641884"/>
            <a:ext cx="16040100" cy="1492567"/>
          </a:xfrm>
          <a:prstGeom prst="roundRect">
            <a:avLst>
              <a:gd name="adj" fmla="val 11487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550670" y="4062412"/>
            <a:ext cx="478869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700" b="1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2296239" y="3973354"/>
            <a:ext cx="14874323" cy="867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 más allá de comparar precios: integra inteligencia geoespacial, visión por computador e IA conversacional en un sistema completo.</a:t>
            </a:r>
            <a:endParaRPr lang="en-US" sz="2475" dirty="0"/>
          </a:p>
        </p:txBody>
      </p:sp>
      <p:sp>
        <p:nvSpPr>
          <p:cNvPr id="10" name="Shape 8"/>
          <p:cNvSpPr/>
          <p:nvPr/>
        </p:nvSpPr>
        <p:spPr>
          <a:xfrm>
            <a:off x="1123950" y="5363051"/>
            <a:ext cx="16040100" cy="13144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550670" y="5694522"/>
            <a:ext cx="478869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700" b="1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700" dirty="0"/>
          </a:p>
        </p:txBody>
      </p:sp>
      <p:sp>
        <p:nvSpPr>
          <p:cNvPr id="12" name="Text 10"/>
          <p:cNvSpPr/>
          <p:nvPr/>
        </p:nvSpPr>
        <p:spPr>
          <a:xfrm>
            <a:off x="2296239" y="5812870"/>
            <a:ext cx="15491246" cy="452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 al comercio local abre una vía de modelo de negocio sostenible y de economía de proximidad.</a:t>
            </a:r>
            <a:endParaRPr lang="en-US" sz="2475" dirty="0"/>
          </a:p>
        </p:txBody>
      </p:sp>
      <p:sp>
        <p:nvSpPr>
          <p:cNvPr id="13" name="Shape 11"/>
          <p:cNvSpPr/>
          <p:nvPr/>
        </p:nvSpPr>
        <p:spPr>
          <a:xfrm>
            <a:off x="1123950" y="6906101"/>
            <a:ext cx="16040100" cy="13144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550670" y="7237572"/>
            <a:ext cx="478869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700" b="1" dirty="0">
                <a:solidFill>
                  <a:srgbClr val="15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700" dirty="0"/>
          </a:p>
        </p:txBody>
      </p:sp>
      <p:sp>
        <p:nvSpPr>
          <p:cNvPr id="15" name="Text 13"/>
          <p:cNvSpPr/>
          <p:nvPr/>
        </p:nvSpPr>
        <p:spPr>
          <a:xfrm>
            <a:off x="2296239" y="7355920"/>
            <a:ext cx="14951917" cy="452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rigurosa: arquitectura modular, testing multinivel, CI/CD y trazabilidad de principio a fin.</a:t>
            </a:r>
            <a:endParaRPr lang="en-US" sz="24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" y="914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99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81125" y="800100"/>
            <a:ext cx="259462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172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LÍNEAS FUTURAS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51292" y="800100"/>
            <a:ext cx="11889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23950" y="1390650"/>
            <a:ext cx="16040100" cy="9525"/>
          </a:xfrm>
          <a:prstGeom prst="rect">
            <a:avLst/>
          </a:prstGeom>
          <a:solidFill>
            <a:srgbClr val="E2E0D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23950" y="1781175"/>
            <a:ext cx="176441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112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Hacia dónde sigue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23950" y="2680335"/>
            <a:ext cx="7896225" cy="3088005"/>
          </a:xfrm>
          <a:prstGeom prst="roundRect">
            <a:avLst>
              <a:gd name="adj" fmla="val 5552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550670" y="4007168"/>
            <a:ext cx="533519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93739" y="4020026"/>
            <a:ext cx="6112312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Publicación en App Store y Google Play</a:t>
            </a:r>
            <a:endParaRPr lang="en-US" sz="2475" dirty="0"/>
          </a:p>
        </p:txBody>
      </p:sp>
      <p:sp>
        <p:nvSpPr>
          <p:cNvPr id="10" name="Shape 8"/>
          <p:cNvSpPr/>
          <p:nvPr/>
        </p:nvSpPr>
        <p:spPr>
          <a:xfrm>
            <a:off x="9267825" y="2680335"/>
            <a:ext cx="7896225" cy="3088005"/>
          </a:xfrm>
          <a:prstGeom prst="roundRect">
            <a:avLst>
              <a:gd name="adj" fmla="val 5552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694545" y="4007168"/>
            <a:ext cx="533519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437614" y="4020026"/>
            <a:ext cx="6169152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cadenas y APIs oficiales de precios</a:t>
            </a:r>
            <a:endParaRPr lang="en-US" sz="2475" dirty="0"/>
          </a:p>
        </p:txBody>
      </p:sp>
      <p:sp>
        <p:nvSpPr>
          <p:cNvPr id="13" name="Shape 11"/>
          <p:cNvSpPr/>
          <p:nvPr/>
        </p:nvSpPr>
        <p:spPr>
          <a:xfrm>
            <a:off x="1123950" y="6015990"/>
            <a:ext cx="7896225" cy="3470910"/>
          </a:xfrm>
          <a:prstGeom prst="roundRect">
            <a:avLst>
              <a:gd name="adj" fmla="val 4940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550670" y="7534275"/>
            <a:ext cx="533519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293739" y="7547134"/>
            <a:ext cx="5329380" cy="44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 premium para el modelo B2B</a:t>
            </a:r>
            <a:endParaRPr lang="en-US" sz="2475" dirty="0"/>
          </a:p>
        </p:txBody>
      </p:sp>
      <p:sp>
        <p:nvSpPr>
          <p:cNvPr id="16" name="Shape 14"/>
          <p:cNvSpPr/>
          <p:nvPr/>
        </p:nvSpPr>
        <p:spPr>
          <a:xfrm>
            <a:off x="9267825" y="6015990"/>
            <a:ext cx="7896225" cy="3470910"/>
          </a:xfrm>
          <a:prstGeom prst="roundRect">
            <a:avLst>
              <a:gd name="adj" fmla="val 4940"/>
            </a:avLst>
          </a:prstGeom>
          <a:solidFill>
            <a:srgbClr val="FFFFFF"/>
          </a:solidFill>
          <a:ln w="7620">
            <a:solidFill>
              <a:srgbClr val="E2E0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694545" y="7534275"/>
            <a:ext cx="533519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437614" y="7342823"/>
            <a:ext cx="6488708" cy="855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75" b="1" dirty="0">
                <a:solidFill>
                  <a:srgbClr val="172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internacional · arquitectura preparada</a:t>
            </a:r>
            <a:endParaRPr lang="en-US" sz="24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44500" y="2000250"/>
            <a:ext cx="6286500" cy="6286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3950" y="2459593"/>
            <a:ext cx="176441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27B2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GRACIAS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23950" y="3031093"/>
            <a:ext cx="11576685" cy="2016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950" b="1" kern="0" spc="-225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compra diaria, una decisión optimizada</a:t>
            </a:r>
            <a:endParaRPr lang="en-US" sz="7950" dirty="0"/>
          </a:p>
        </p:txBody>
      </p:sp>
      <p:sp>
        <p:nvSpPr>
          <p:cNvPr id="5" name="Text 2"/>
          <p:cNvSpPr/>
          <p:nvPr/>
        </p:nvSpPr>
        <p:spPr>
          <a:xfrm>
            <a:off x="1123950" y="5333762"/>
            <a:ext cx="10006965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75" dirty="0">
                <a:solidFill>
                  <a:srgbClr val="A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su tiempo y su atención. Quedo a su disposición para cualquier pregunta.</a:t>
            </a:r>
            <a:endParaRPr lang="en-US" sz="2475" dirty="0"/>
          </a:p>
        </p:txBody>
      </p:sp>
      <p:sp>
        <p:nvSpPr>
          <p:cNvPr id="6" name="Shape 3"/>
          <p:cNvSpPr/>
          <p:nvPr/>
        </p:nvSpPr>
        <p:spPr>
          <a:xfrm>
            <a:off x="1123950" y="6709172"/>
            <a:ext cx="10477500" cy="9525"/>
          </a:xfrm>
          <a:prstGeom prst="rect">
            <a:avLst/>
          </a:prstGeom>
          <a:solidFill>
            <a:srgbClr val="3340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123950" y="7061597"/>
            <a:ext cx="290436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123950" y="7507367"/>
            <a:ext cx="290436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Parrilla Geniz</a:t>
            </a:r>
            <a:endParaRPr lang="en-US" sz="2175" dirty="0"/>
          </a:p>
        </p:txBody>
      </p:sp>
      <p:sp>
        <p:nvSpPr>
          <p:cNvPr id="9" name="Text 6"/>
          <p:cNvSpPr/>
          <p:nvPr/>
        </p:nvSpPr>
        <p:spPr>
          <a:xfrm>
            <a:off x="4621530" y="7069217"/>
            <a:ext cx="547017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150" dirty="0">
                <a:solidFill>
                  <a:srgbClr val="9A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REPOSITORIO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4621530" y="7514987"/>
            <a:ext cx="547017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7B2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github.com/QHX0329/bargain-tfg</a:t>
            </a:r>
            <a:endParaRPr lang="en-US" sz="21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1306</Words>
  <Application>Microsoft Office PowerPoint</Application>
  <PresentationFormat>Personalizado</PresentationFormat>
  <Paragraphs>318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NICOLÁS PARRILLA GENIZ</cp:lastModifiedBy>
  <cp:revision>2</cp:revision>
  <dcterms:created xsi:type="dcterms:W3CDTF">2026-06-28T09:19:32Z</dcterms:created>
  <dcterms:modified xsi:type="dcterms:W3CDTF">2026-06-28T09:24:04Z</dcterms:modified>
</cp:coreProperties>
</file>